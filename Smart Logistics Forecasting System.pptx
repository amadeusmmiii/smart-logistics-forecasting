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53A63A-4A08-44C2-8117-95994E4A92FD}">
  <a:tblStyle styleId="{7853A63A-4A08-44C2-8117-95994E4A92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38625" y="1715541"/>
            <a:ext cx="3714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SMART LOGISTICS SOLUTIONS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2462212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50369" y="2881312"/>
            <a:ext cx="10091261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Predicting Stock Demand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Delivery Volume Trends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91050" y="4961334"/>
            <a:ext cx="3009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Advanced Time Series Forecasting | 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0" y="2782500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Overview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Business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2690"/>
            <a:ext cx="5381625" cy="2146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12690"/>
            <a:ext cx="5381625" cy="2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3103215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The Complication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646140"/>
            <a:ext cx="46005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Fluctuating delivery volumes and unpredictable stock demand lead to warehouse inefficiencies, high labor costs during spikes, and stockouts during peak periods.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29400" y="3103215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The Resolution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400" y="3646140"/>
            <a:ext cx="46005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a dual-model forecasting system (Prophet &amp; ARIMA) to automate restocking schedules and labor allocation based on high-fidelity time-series insights.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Reactive Logistics is Costly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698450" y="1845705"/>
            <a:ext cx="87951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Robust Data Baseline</a:t>
            </a:r>
            <a:endParaRPr sz="2218"/>
          </a:p>
        </p:txBody>
      </p:sp>
      <p:sp>
        <p:nvSpPr>
          <p:cNvPr id="116" name="Google Shape;116;p16"/>
          <p:cNvSpPr txBox="1"/>
          <p:nvPr/>
        </p:nvSpPr>
        <p:spPr>
          <a:xfrm>
            <a:off x="1698450" y="2283392"/>
            <a:ext cx="83763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model utilizes a synthetic dataset of 500 records, modeling real-world logistics complexities including:</a:t>
            </a:r>
            <a:endParaRPr sz="2218"/>
          </a:p>
        </p:txBody>
      </p:sp>
      <p:sp>
        <p:nvSpPr>
          <p:cNvPr id="117" name="Google Shape;117;p16"/>
          <p:cNvSpPr txBox="1"/>
          <p:nvPr/>
        </p:nvSpPr>
        <p:spPr>
          <a:xfrm>
            <a:off x="1849377" y="3377515"/>
            <a:ext cx="151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2218"/>
          </a:p>
        </p:txBody>
      </p:sp>
      <p:sp>
        <p:nvSpPr>
          <p:cNvPr id="118" name="Google Shape;118;p16"/>
          <p:cNvSpPr txBox="1"/>
          <p:nvPr/>
        </p:nvSpPr>
        <p:spPr>
          <a:xfrm>
            <a:off x="2000303" y="3379025"/>
            <a:ext cx="8074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0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Gradual upward growth trend (0.15% daily)</a:t>
            </a:r>
            <a:endParaRPr sz="2218"/>
          </a:p>
        </p:txBody>
      </p:sp>
      <p:sp>
        <p:nvSpPr>
          <p:cNvPr id="119" name="Google Shape;119;p16"/>
          <p:cNvSpPr txBox="1"/>
          <p:nvPr/>
        </p:nvSpPr>
        <p:spPr>
          <a:xfrm>
            <a:off x="1849377" y="3812138"/>
            <a:ext cx="151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2218"/>
          </a:p>
        </p:txBody>
      </p:sp>
      <p:sp>
        <p:nvSpPr>
          <p:cNvPr id="120" name="Google Shape;120;p16"/>
          <p:cNvSpPr txBox="1"/>
          <p:nvPr/>
        </p:nvSpPr>
        <p:spPr>
          <a:xfrm>
            <a:off x="2000303" y="3813646"/>
            <a:ext cx="8074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0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Strict weekly seasonal variations</a:t>
            </a:r>
            <a:endParaRPr sz="2218"/>
          </a:p>
        </p:txBody>
      </p:sp>
      <p:sp>
        <p:nvSpPr>
          <p:cNvPr id="121" name="Google Shape;121;p16"/>
          <p:cNvSpPr txBox="1"/>
          <p:nvPr/>
        </p:nvSpPr>
        <p:spPr>
          <a:xfrm>
            <a:off x="1849377" y="4246759"/>
            <a:ext cx="151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2218"/>
          </a:p>
        </p:txBody>
      </p:sp>
      <p:sp>
        <p:nvSpPr>
          <p:cNvPr id="122" name="Google Shape;122;p16"/>
          <p:cNvSpPr txBox="1"/>
          <p:nvPr/>
        </p:nvSpPr>
        <p:spPr>
          <a:xfrm>
            <a:off x="2000303" y="4248267"/>
            <a:ext cx="8074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0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Mid-month "payday" delivery surges</a:t>
            </a:r>
            <a:endParaRPr sz="2218"/>
          </a:p>
        </p:txBody>
      </p:sp>
      <p:sp>
        <p:nvSpPr>
          <p:cNvPr id="123" name="Google Shape;123;p16"/>
          <p:cNvSpPr txBox="1"/>
          <p:nvPr/>
        </p:nvSpPr>
        <p:spPr>
          <a:xfrm>
            <a:off x="1849377" y="4681380"/>
            <a:ext cx="151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2218"/>
          </a:p>
        </p:txBody>
      </p:sp>
      <p:sp>
        <p:nvSpPr>
          <p:cNvPr id="124" name="Google Shape;124;p16"/>
          <p:cNvSpPr txBox="1"/>
          <p:nvPr/>
        </p:nvSpPr>
        <p:spPr>
          <a:xfrm>
            <a:off x="2000303" y="4682888"/>
            <a:ext cx="8074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0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9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operational white noise</a:t>
            </a:r>
            <a:endParaRPr sz="2218"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500-Day Historical Data Foundation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660350" y="1764432"/>
            <a:ext cx="8871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Decomposition Insights</a:t>
            </a:r>
            <a:endParaRPr sz="2238"/>
          </a:p>
        </p:txBody>
      </p:sp>
      <p:sp>
        <p:nvSpPr>
          <p:cNvPr id="133" name="Google Shape;133;p17"/>
          <p:cNvSpPr txBox="1"/>
          <p:nvPr/>
        </p:nvSpPr>
        <p:spPr>
          <a:xfrm>
            <a:off x="1660350" y="2205907"/>
            <a:ext cx="84489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 series decomposition isolates the three core drivers of logistics volume:</a:t>
            </a:r>
            <a:endParaRPr sz="2238"/>
          </a:p>
        </p:txBody>
      </p:sp>
      <p:sp>
        <p:nvSpPr>
          <p:cNvPr id="134" name="Google Shape;134;p17"/>
          <p:cNvSpPr txBox="1"/>
          <p:nvPr/>
        </p:nvSpPr>
        <p:spPr>
          <a:xfrm>
            <a:off x="1660350" y="3387136"/>
            <a:ext cx="84489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6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Trend:</a:t>
            </a:r>
            <a:r>
              <a:rPr b="0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Consistent long-term business growth.</a:t>
            </a:r>
            <a:endParaRPr sz="2238"/>
          </a:p>
        </p:txBody>
      </p:sp>
      <p:sp>
        <p:nvSpPr>
          <p:cNvPr id="135" name="Google Shape;135;p17"/>
          <p:cNvSpPr txBox="1"/>
          <p:nvPr/>
        </p:nvSpPr>
        <p:spPr>
          <a:xfrm>
            <a:off x="1660350" y="4053866"/>
            <a:ext cx="84489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58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Seasonality:</a:t>
            </a:r>
            <a:r>
              <a:rPr b="0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Monday-Friday peaks vs. weekend drops.</a:t>
            </a:r>
            <a:endParaRPr sz="2238"/>
          </a:p>
        </p:txBody>
      </p:sp>
      <p:sp>
        <p:nvSpPr>
          <p:cNvPr id="136" name="Google Shape;136;p17"/>
          <p:cNvSpPr txBox="1"/>
          <p:nvPr/>
        </p:nvSpPr>
        <p:spPr>
          <a:xfrm>
            <a:off x="1660350" y="4720597"/>
            <a:ext cx="84489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6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Residuals:</a:t>
            </a:r>
            <a:r>
              <a:rPr b="0" i="0" lang="en-US" sz="2158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Unpredictable day-to-day variance.</a:t>
            </a:r>
            <a:endParaRPr sz="2238"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0350" y="3470863"/>
            <a:ext cx="274019" cy="289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0350" y="4137595"/>
            <a:ext cx="243572" cy="289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60350" y="4804325"/>
            <a:ext cx="274019" cy="28924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Weekly Seasonality Drives Spikes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0" y="2782500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Forecasting Methodology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Model Benchmarking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Prophet Exhibits 3x Higher Accuracy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660350" y="1764432"/>
            <a:ext cx="8871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44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Superior Error Reduction</a:t>
            </a:r>
            <a:endParaRPr sz="2238"/>
          </a:p>
        </p:txBody>
      </p:sp>
      <p:sp>
        <p:nvSpPr>
          <p:cNvPr id="157" name="Google Shape;157;p19"/>
          <p:cNvSpPr txBox="1"/>
          <p:nvPr/>
        </p:nvSpPr>
        <p:spPr>
          <a:xfrm>
            <a:off x="1660350" y="2205907"/>
            <a:ext cx="84489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Absolute Error (MAE) comparison demonstrates that Meta Prophet captures seasonal dips significantly better then the standard ARIMA.</a:t>
            </a:r>
            <a:endParaRPr sz="223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85875"/>
            <a:ext cx="12192000" cy="55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71500" y="42919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Note: Lower MAE values indicate higher forecasting precision. Prophet's advantage lies in its explicit seasonal modeling.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Statistical Benchmarking Results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3669"/>
            <a:ext cx="3492400" cy="314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13669"/>
            <a:ext cx="3492549" cy="314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13669"/>
            <a:ext cx="3492400" cy="314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884239" y="3423344"/>
            <a:ext cx="28669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Seasonal Fidelity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952500" y="3880544"/>
            <a:ext cx="27304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Preserves 7-day zigzag patterns deep into the 30-day forecast window, unlike ARIMA which tends to flatten.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662387" y="3423344"/>
            <a:ext cx="28670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Robustness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4730650" y="3880544"/>
            <a:ext cx="27305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Effectively handles missing data and outliers without requiring complex pre-processing or stationarity checks.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440690" y="3423344"/>
            <a:ext cx="28669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8508950" y="3880544"/>
            <a:ext cx="2730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Standardized 'ds' and 'y' column structure allows for rapid integration into existing business dashboards.</a:t>
            </a:r>
            <a:endParaRPr/>
          </a:p>
        </p:txBody>
      </p:sp>
      <p:pic>
        <p:nvPicPr>
          <p:cNvPr descr="image.png" id="181" name="Google Shape;18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1950" y="268991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6899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4125" y="2689919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Prophet is the Operational Choice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1747800" y="1581454"/>
            <a:ext cx="8696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Scaling Future Logistics</a:t>
            </a:r>
            <a:endParaRPr sz="2341"/>
          </a:p>
        </p:txBody>
      </p:sp>
      <p:sp>
        <p:nvSpPr>
          <p:cNvPr id="192" name="Google Shape;192;p22"/>
          <p:cNvSpPr txBox="1"/>
          <p:nvPr/>
        </p:nvSpPr>
        <p:spPr>
          <a:xfrm>
            <a:off x="1747800" y="2775988"/>
            <a:ext cx="8282100" cy="2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demand planning for May 2026 indicates a requirement for increased buffer capacity. Our "Safety Threshold" analysis suggests an immediate calibration is needed to support 700+ unit peaks.</a:t>
            </a:r>
            <a:endParaRPr sz="2341"/>
          </a:p>
        </p:txBody>
      </p:sp>
      <p:sp>
        <p:nvSpPr>
          <p:cNvPr id="193" name="Google Shape;193;p22"/>
          <p:cNvSpPr txBox="1"/>
          <p:nvPr/>
        </p:nvSpPr>
        <p:spPr>
          <a:xfrm>
            <a:off x="1747800" y="4929135"/>
            <a:ext cx="828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7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Projected Peak Demand: ~700 Units</a:t>
            </a:r>
            <a:endParaRPr sz="234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23"/>
          <p:cNvGraphicFramePr/>
          <p:nvPr/>
        </p:nvGraphicFramePr>
        <p:xfrm>
          <a:off x="571500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{7853A63A-4A08-44C2-8117-95994E4A92FD}</a:tableStyleId>
              </a:tblPr>
              <a:tblGrid>
                <a:gridCol w="2849600"/>
                <a:gridCol w="2204300"/>
                <a:gridCol w="3521575"/>
                <a:gridCol w="2473525"/>
              </a:tblGrid>
              <a:tr h="6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 /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Recommendation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Daily Demand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645.20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Maintain Baseline Staffing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Peak Forecasted Spike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698.45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Overtime Shift Required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Inventory (30D)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19,356.12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Consolidate Supplier 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Healthy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Safety 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625.00 Units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Upgrade from 540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3"/>
          <p:cNvSpPr/>
          <p:nvPr/>
        </p:nvSpPr>
        <p:spPr>
          <a:xfrm>
            <a:off x="571500" y="3439417"/>
            <a:ext cx="2849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421112" y="3439417"/>
            <a:ext cx="22042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625405" y="3439417"/>
            <a:ext cx="3521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9146976" y="3439417"/>
            <a:ext cx="2473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71500" y="4104233"/>
            <a:ext cx="2849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3421112" y="4104233"/>
            <a:ext cx="22042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625405" y="4104233"/>
            <a:ext cx="3521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9146976" y="4104233"/>
            <a:ext cx="2473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71500" y="4769048"/>
            <a:ext cx="2849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421112" y="4769048"/>
            <a:ext cx="22042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625405" y="4769048"/>
            <a:ext cx="3521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9146976" y="4769048"/>
            <a:ext cx="2473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6976" y="3657505"/>
            <a:ext cx="1371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Warehouse Operational Dashboard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0" y="0"/>
            <a:ext cx="76200" cy="1285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